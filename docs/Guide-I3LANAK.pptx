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2914e88-6706-8939-a43f-fc40317aa9c4}">
          <p14:sldIdLst>
            <p14:sldId id="256"/>
            <p14:sldId id="257"/>
          </p14:sldIdLst>
        </p14:section>
        <p14:section name="L'affiche" id="{d4bacf1c-3c81-6ab9-d7a9-abfb9a734c01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La vidéo" id="{cd7ef4c5-be38-1e6f-474f-567af68a971b}">
          <p14:sldIdLst>
            <p14:sldId id="264"/>
            <p14:sldId id="265"/>
            <p14:sldId id="266"/>
          </p14:sldIdLst>
        </p14:section>
        <p14:section name="Publication" id="{c6059aff-d58a-dcbb-0619-e495e1da56a4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1B4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E1B4B"/>
                </a:solidFill>
                <a:latin typeface="+mn-lt"/>
              </a:rPr>
              <a:t>Les 3 scènes de la vidéo (secondes)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Photos</c:v>
                </c:pt>
              </c:strCache>
            </c:strRef>
          </c:tx>
          <c:spPr>
            <a:solidFill>
              <a:srgbClr val="E11D48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10 s</c:v>
                  </c:pt>
                  <c:pt idx="1">
                    <c:v>15 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Prix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10 s</c:v>
                  </c:pt>
                  <c:pt idx="1">
                    <c:v>15 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2.5</c:v>
                </c:pt>
                <c:pt idx="1">
                  <c:v>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Affiche finale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10 s</c:v>
                  </c:pt>
                  <c:pt idx="1">
                    <c:v>15 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3.5</c:v>
                </c:pt>
                <c:pt idx="1">
                  <c:v>5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7556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guide présente le travail de l'équipe IT-RIM dans l'atelier : de la connexion jusqu'à la publication, avec la génération de la vidéo publicitaire.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Vue d'ensemble : chaque étape a sa diapositive dans la suite du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comptes de l'équipe sont créés par l'administrateur avec la commande npm run user:create (rôle operator ou admin).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deux chemins mènent à la même fiche d'affiche.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Photos acceptées : JPEG, PNG ou WebP, 4 Mo maximum ; elles sont redimensionnées avant l'envoi.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modèle a ses couleurs et ses textes d'exemple. La story convient aux statuts WhatsApp et aux stories Instagram/Facebook.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champ existe en français et en arabe. Les textes restent modifiables à la 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L'image enregistrée dans la fiche est un JPEG de qualité 92 ; le téléchargement direct est en PNG.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Aucun serveur vidéo : la vidéo est fabriquée par le navigateur de l'opérateur, à partir des photos et des textes de la fiche.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Scène 1 : les photos du produit défilent. Scène 2 : le prix. Scène 3 : l'affiche finale avec le contact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taille et le codec (H.264) s'affichent sous la vidéo créée.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statuts permettent de savoir à tout moment où en est chaque commerçant.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ordinateur avec peu de mémoire (4 Go) peut avoir du mal à créer la vidéo : fermez tout le reste avant.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du parcours complet.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I3LANAK · Guide de l'atelier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Guide de l'atelier I3LANAK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Créer une affiche publicitaire et sa vidéo MP4, pas à pas</a:t>
            </a:r>
            <a:endParaRPr lang="en-US" sz="2000" dirty="0"/>
          </a:p>
        </p:txBody>
      </p:sp>
      <p:sp>
        <p:nvSpPr>
          <p:cNvPr id="4" name="marque"/>
          <p:cNvSpPr txBox="1"/>
          <p:nvPr/>
        </p:nvSpPr>
        <p:spPr>
          <a:xfrm>
            <a:off x="54864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8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إعلانك</a:t>
            </a:r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  ·  by IT-RIM Mauritanie</a:t>
            </a:r>
            <a:endParaRPr lang="en-US" sz="1800" dirty="0"/>
          </a:p>
        </p:txBody>
      </p:sp>
      <p:sp>
        <p:nvSpPr>
          <p:cNvPr id="5" name="cercle-1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e-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3966210"/>
            <a:ext cx="251460" cy="251460"/>
          </a:xfrm>
          <a:prstGeom prst="rect">
            <a:avLst/>
          </a:prstGeom>
        </p:spPr>
      </p:pic>
      <p:sp>
        <p:nvSpPr>
          <p:cNvPr id="7" name="url"/>
          <p:cNvSpPr txBox="1"/>
          <p:nvPr/>
        </p:nvSpPr>
        <p:spPr>
          <a:xfrm>
            <a:off x="1188720" y="3840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i3lanak.vercel.app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parcours en 6 étapes</a:t>
            </a:r>
            <a:endParaRPr lang="en-US" sz="3000" dirty="0"/>
          </a:p>
        </p:txBody>
      </p:sp>
      <p:sp>
        <p:nvSpPr>
          <p:cNvPr id="3" name="cercle-3"/>
          <p:cNvSpPr/>
          <p:nvPr/>
        </p:nvSpPr>
        <p:spPr>
          <a:xfrm>
            <a:off x="731520" y="16002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-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805940"/>
            <a:ext cx="411480" cy="411480"/>
          </a:xfrm>
          <a:prstGeom prst="rect">
            <a:avLst/>
          </a:prstGeom>
        </p:spPr>
      </p:pic>
      <p:sp>
        <p:nvSpPr>
          <p:cNvPr id="5" name="num-5"/>
          <p:cNvSpPr txBox="1"/>
          <p:nvPr/>
        </p:nvSpPr>
        <p:spPr>
          <a:xfrm>
            <a:off x="45720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libelle-6"/>
          <p:cNvSpPr txBox="1"/>
          <p:nvPr/>
        </p:nvSpPr>
        <p:spPr>
          <a:xfrm>
            <a:off x="502920" y="2926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 connecter</a:t>
            </a:r>
            <a:endParaRPr lang="en-US" sz="1500" dirty="0"/>
          </a:p>
        </p:txBody>
      </p:sp>
      <p:sp>
        <p:nvSpPr>
          <p:cNvPr id="7" name="fleche-7"/>
          <p:cNvSpPr/>
          <p:nvPr/>
        </p:nvSpPr>
        <p:spPr>
          <a:xfrm>
            <a:off x="1627632" y="2011680"/>
            <a:ext cx="40233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cercle-8"/>
          <p:cNvSpPr/>
          <p:nvPr/>
        </p:nvSpPr>
        <p:spPr>
          <a:xfrm>
            <a:off x="2103120" y="16002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e-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860" y="1805940"/>
            <a:ext cx="411480" cy="411480"/>
          </a:xfrm>
          <a:prstGeom prst="rect">
            <a:avLst/>
          </a:prstGeom>
        </p:spPr>
      </p:pic>
      <p:sp>
        <p:nvSpPr>
          <p:cNvPr id="10" name="num-10"/>
          <p:cNvSpPr txBox="1"/>
          <p:nvPr/>
        </p:nvSpPr>
        <p:spPr>
          <a:xfrm>
            <a:off x="182880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libelle-11"/>
          <p:cNvSpPr txBox="1"/>
          <p:nvPr/>
        </p:nvSpPr>
        <p:spPr>
          <a:xfrm>
            <a:off x="1874520" y="2926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Remplir la fiche</a:t>
            </a:r>
            <a:endParaRPr lang="en-US" sz="1500" dirty="0"/>
          </a:p>
        </p:txBody>
      </p:sp>
      <p:sp>
        <p:nvSpPr>
          <p:cNvPr id="12" name="fleche-12"/>
          <p:cNvSpPr/>
          <p:nvPr/>
        </p:nvSpPr>
        <p:spPr>
          <a:xfrm>
            <a:off x="2999232" y="2011680"/>
            <a:ext cx="40233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cercle-13"/>
          <p:cNvSpPr/>
          <p:nvPr/>
        </p:nvSpPr>
        <p:spPr>
          <a:xfrm>
            <a:off x="3474720" y="16002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e-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460" y="1805940"/>
            <a:ext cx="411480" cy="411480"/>
          </a:xfrm>
          <a:prstGeom prst="rect">
            <a:avLst/>
          </a:prstGeom>
        </p:spPr>
      </p:pic>
      <p:sp>
        <p:nvSpPr>
          <p:cNvPr id="15" name="num-15"/>
          <p:cNvSpPr txBox="1"/>
          <p:nvPr/>
        </p:nvSpPr>
        <p:spPr>
          <a:xfrm>
            <a:off x="320040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libelle-16"/>
          <p:cNvSpPr txBox="1"/>
          <p:nvPr/>
        </p:nvSpPr>
        <p:spPr>
          <a:xfrm>
            <a:off x="3246120" y="2926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Mettre en page</a:t>
            </a:r>
            <a:endParaRPr lang="en-US" sz="1500" dirty="0"/>
          </a:p>
        </p:txBody>
      </p:sp>
      <p:sp>
        <p:nvSpPr>
          <p:cNvPr id="17" name="fleche-17"/>
          <p:cNvSpPr/>
          <p:nvPr/>
        </p:nvSpPr>
        <p:spPr>
          <a:xfrm>
            <a:off x="4370832" y="2011680"/>
            <a:ext cx="40233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cercle-18"/>
          <p:cNvSpPr/>
          <p:nvPr/>
        </p:nvSpPr>
        <p:spPr>
          <a:xfrm>
            <a:off x="4846320" y="16002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e-1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1805940"/>
            <a:ext cx="411480" cy="411480"/>
          </a:xfrm>
          <a:prstGeom prst="rect">
            <a:avLst/>
          </a:prstGeom>
        </p:spPr>
      </p:pic>
      <p:sp>
        <p:nvSpPr>
          <p:cNvPr id="20" name="num-20"/>
          <p:cNvSpPr txBox="1"/>
          <p:nvPr/>
        </p:nvSpPr>
        <p:spPr>
          <a:xfrm>
            <a:off x="457200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libelle-21"/>
          <p:cNvSpPr txBox="1"/>
          <p:nvPr/>
        </p:nvSpPr>
        <p:spPr>
          <a:xfrm>
            <a:off x="4617720" y="2926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Exporter l'image</a:t>
            </a:r>
            <a:endParaRPr lang="en-US" sz="1500" dirty="0"/>
          </a:p>
        </p:txBody>
      </p:sp>
      <p:sp>
        <p:nvSpPr>
          <p:cNvPr id="22" name="fleche-22"/>
          <p:cNvSpPr/>
          <p:nvPr/>
        </p:nvSpPr>
        <p:spPr>
          <a:xfrm>
            <a:off x="5742432" y="2011680"/>
            <a:ext cx="40233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cercle-23"/>
          <p:cNvSpPr/>
          <p:nvPr/>
        </p:nvSpPr>
        <p:spPr>
          <a:xfrm>
            <a:off x="6217920" y="16002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icone-2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660" y="1805940"/>
            <a:ext cx="411480" cy="411480"/>
          </a:xfrm>
          <a:prstGeom prst="rect">
            <a:avLst/>
          </a:prstGeom>
        </p:spPr>
      </p:pic>
      <p:sp>
        <p:nvSpPr>
          <p:cNvPr id="25" name="num-25"/>
          <p:cNvSpPr txBox="1"/>
          <p:nvPr/>
        </p:nvSpPr>
        <p:spPr>
          <a:xfrm>
            <a:off x="594360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libelle-26"/>
          <p:cNvSpPr txBox="1"/>
          <p:nvPr/>
        </p:nvSpPr>
        <p:spPr>
          <a:xfrm>
            <a:off x="5989320" y="2926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Générer la vidéo</a:t>
            </a:r>
            <a:endParaRPr lang="en-US" sz="1500" dirty="0"/>
          </a:p>
        </p:txBody>
      </p:sp>
      <p:sp>
        <p:nvSpPr>
          <p:cNvPr id="27" name="fleche-27"/>
          <p:cNvSpPr/>
          <p:nvPr/>
        </p:nvSpPr>
        <p:spPr>
          <a:xfrm>
            <a:off x="7114032" y="2011680"/>
            <a:ext cx="40233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8" name="cercle-28"/>
          <p:cNvSpPr/>
          <p:nvPr/>
        </p:nvSpPr>
        <p:spPr>
          <a:xfrm>
            <a:off x="7589520" y="160020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icone-2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5260" y="1805940"/>
            <a:ext cx="411480" cy="411480"/>
          </a:xfrm>
          <a:prstGeom prst="rect">
            <a:avLst/>
          </a:prstGeom>
        </p:spPr>
      </p:pic>
      <p:sp>
        <p:nvSpPr>
          <p:cNvPr id="30" name="num-30"/>
          <p:cNvSpPr txBox="1"/>
          <p:nvPr/>
        </p:nvSpPr>
        <p:spPr>
          <a:xfrm>
            <a:off x="731520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6</a:t>
            </a:r>
            <a:endParaRPr lang="en-US" sz="2000" dirty="0"/>
          </a:p>
        </p:txBody>
      </p:sp>
      <p:sp>
        <p:nvSpPr>
          <p:cNvPr id="31" name="libelle-31"/>
          <p:cNvSpPr txBox="1"/>
          <p:nvPr/>
        </p:nvSpPr>
        <p:spPr>
          <a:xfrm>
            <a:off x="7360920" y="2926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Suivre la publication</a:t>
            </a:r>
            <a:endParaRPr lang="en-US" sz="1500" dirty="0"/>
          </a:p>
        </p:txBody>
      </p:sp>
      <p:sp>
        <p:nvSpPr>
          <p:cNvPr id="32" name="resume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Les étapes 1 à 4 produisent l'affiche, l'étape 5 la vidéo, l'étape 6 suit la publication chez le client.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1. Se connecter</a:t>
            </a:r>
            <a:endParaRPr lang="en-US" sz="3000" dirty="0"/>
          </a:p>
        </p:txBody>
      </p:sp>
      <p:sp>
        <p:nvSpPr>
          <p:cNvPr id="3" name="puce-32"/>
          <p:cNvSpPr/>
          <p:nvPr/>
        </p:nvSpPr>
        <p:spPr>
          <a:xfrm>
            <a:off x="457200" y="12344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numero-33"/>
          <p:cNvSpPr txBox="1"/>
          <p:nvPr/>
        </p:nvSpPr>
        <p:spPr>
          <a:xfrm>
            <a:off x="4572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etape-34"/>
          <p:cNvSpPr txBox="1"/>
          <p:nvPr/>
        </p:nvSpPr>
        <p:spPr>
          <a:xfrm>
            <a:off x="1005840" y="11795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Ouvrez i3lanak.vercel.app/login</a:t>
            </a:r>
            <a:endParaRPr lang="en-US" sz="1500" dirty="0"/>
          </a:p>
        </p:txBody>
      </p:sp>
      <p:sp>
        <p:nvSpPr>
          <p:cNvPr id="6" name="puce-35"/>
          <p:cNvSpPr/>
          <p:nvPr/>
        </p:nvSpPr>
        <p:spPr>
          <a:xfrm>
            <a:off x="457200" y="19476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umero-36"/>
          <p:cNvSpPr txBox="1"/>
          <p:nvPr/>
        </p:nvSpPr>
        <p:spPr>
          <a:xfrm>
            <a:off x="45720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etape-37"/>
          <p:cNvSpPr txBox="1"/>
          <p:nvPr/>
        </p:nvSpPr>
        <p:spPr>
          <a:xfrm>
            <a:off x="1005840" y="18928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Entrez l'email et le mot de passe de votre compte équipe</a:t>
            </a:r>
            <a:endParaRPr lang="en-US" sz="1500" dirty="0"/>
          </a:p>
        </p:txBody>
      </p:sp>
      <p:sp>
        <p:nvSpPr>
          <p:cNvPr id="9" name="puce-38"/>
          <p:cNvSpPr/>
          <p:nvPr/>
        </p:nvSpPr>
        <p:spPr>
          <a:xfrm>
            <a:off x="457200" y="266090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ero-39"/>
          <p:cNvSpPr txBox="1"/>
          <p:nvPr/>
        </p:nvSpPr>
        <p:spPr>
          <a:xfrm>
            <a:off x="45720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etape-40"/>
          <p:cNvSpPr txBox="1"/>
          <p:nvPr/>
        </p:nvSpPr>
        <p:spPr>
          <a:xfrm>
            <a:off x="1005840" y="2606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 menu affiche Atelier, Commandes et Administration</a:t>
            </a:r>
            <a:endParaRPr lang="en-US" sz="1500" dirty="0"/>
          </a:p>
        </p:txBody>
      </p:sp>
      <p:sp>
        <p:nvSpPr>
          <p:cNvPr id="12" name="puce-41"/>
          <p:cNvSpPr/>
          <p:nvPr/>
        </p:nvSpPr>
        <p:spPr>
          <a:xfrm>
            <a:off x="457200" y="33741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umero-42"/>
          <p:cNvSpPr txBox="1"/>
          <p:nvPr/>
        </p:nvSpPr>
        <p:spPr>
          <a:xfrm>
            <a:off x="45720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etape-43"/>
          <p:cNvSpPr txBox="1"/>
          <p:nvPr/>
        </p:nvSpPr>
        <p:spPr>
          <a:xfrm>
            <a:off x="1005840" y="33192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Cliquez sur Atelier pour voir toutes les affiches</a:t>
            </a:r>
            <a:endParaRPr lang="en-US" sz="1500" dirty="0"/>
          </a:p>
        </p:txBody>
      </p:sp>
      <p:pic>
        <p:nvPicPr>
          <p:cNvPr id="15" name="capture-atelier" descr="Capture de l'atelier I3LANAK avec le menu et deux affich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6318" y="1188720"/>
            <a:ext cx="3700482" cy="3291840"/>
          </a:xfrm>
          <a:prstGeom prst="rect">
            <a:avLst/>
          </a:prstGeom>
        </p:spPr>
      </p:pic>
      <p:sp>
        <p:nvSpPr>
          <p:cNvPr id="16" name="legende"/>
          <p:cNvSpPr txBox="1"/>
          <p:nvPr/>
        </p:nvSpPr>
        <p:spPr>
          <a:xfrm>
            <a:off x="4986318" y="4526280"/>
            <a:ext cx="3700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L'atelier une fois connecté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2. Créer une affiche</a:t>
            </a:r>
            <a:endParaRPr lang="en-US" sz="3000" dirty="0"/>
          </a:p>
        </p:txBody>
      </p:sp>
      <p:sp>
        <p:nvSpPr>
          <p:cNvPr id="3" name="carte-44"/>
          <p:cNvSpPr/>
          <p:nvPr/>
        </p:nvSpPr>
        <p:spPr>
          <a:xfrm>
            <a:off x="457200" y="1234440"/>
            <a:ext cx="402336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ercle-45"/>
          <p:cNvSpPr/>
          <p:nvPr/>
        </p:nvSpPr>
        <p:spPr>
          <a:xfrm>
            <a:off x="777240" y="15087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e-4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680210"/>
            <a:ext cx="342900" cy="342900"/>
          </a:xfrm>
          <a:prstGeom prst="rect">
            <a:avLst/>
          </a:prstGeom>
        </p:spPr>
      </p:pic>
      <p:sp>
        <p:nvSpPr>
          <p:cNvPr id="6" name="titre-carte-47"/>
          <p:cNvSpPr txBox="1"/>
          <p:nvPr/>
        </p:nvSpPr>
        <p:spPr>
          <a:xfrm>
            <a:off x="777240" y="2377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Nouvelle affiche</a:t>
            </a:r>
            <a:endParaRPr lang="en-US" sz="2000" dirty="0"/>
          </a:p>
        </p:txBody>
      </p:sp>
      <p:sp>
        <p:nvSpPr>
          <p:cNvPr id="7" name="texte-carte-48"/>
          <p:cNvSpPr txBox="1"/>
          <p:nvPr/>
        </p:nvSpPr>
        <p:spPr>
          <a:xfrm>
            <a:off x="777240" y="28803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Dans l'Atelier, bouton « Nouvelle affiche ».</a:t>
            </a:r>
            <a:endParaRPr lang="en-US" sz="1500" dirty="0"/>
          </a:p>
        </p:txBody>
      </p:sp>
      <p:sp>
        <p:nvSpPr>
          <p:cNvPr id="8" name="note-carte-49"/>
          <p:cNvSpPr txBox="1"/>
          <p:nvPr/>
        </p:nvSpPr>
        <p:spPr>
          <a:xfrm>
            <a:off x="777240" y="35661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Pour un commerçant venu directement voir l'équipe.</a:t>
            </a:r>
            <a:endParaRPr lang="en-US" sz="1300" dirty="0"/>
          </a:p>
        </p:txBody>
      </p:sp>
      <p:sp>
        <p:nvSpPr>
          <p:cNvPr id="9" name="carte-50"/>
          <p:cNvSpPr/>
          <p:nvPr/>
        </p:nvSpPr>
        <p:spPr>
          <a:xfrm>
            <a:off x="4663440" y="1234440"/>
            <a:ext cx="402336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ercle-51"/>
          <p:cNvSpPr/>
          <p:nvPr/>
        </p:nvSpPr>
        <p:spPr>
          <a:xfrm>
            <a:off x="4983480" y="1508760"/>
            <a:ext cx="685800" cy="6858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1" name="icone-5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930" y="1680210"/>
            <a:ext cx="342900" cy="342900"/>
          </a:xfrm>
          <a:prstGeom prst="rect">
            <a:avLst/>
          </a:prstGeom>
        </p:spPr>
      </p:pic>
      <p:sp>
        <p:nvSpPr>
          <p:cNvPr id="12" name="titre-carte-53"/>
          <p:cNvSpPr txBox="1"/>
          <p:nvPr/>
        </p:nvSpPr>
        <p:spPr>
          <a:xfrm>
            <a:off x="4983480" y="2377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Depuis une commande client</a:t>
            </a:r>
            <a:endParaRPr lang="en-US" sz="2000" dirty="0"/>
          </a:p>
        </p:txBody>
      </p:sp>
      <p:sp>
        <p:nvSpPr>
          <p:cNvPr id="13" name="texte-carte-54"/>
          <p:cNvSpPr txBox="1"/>
          <p:nvPr/>
        </p:nvSpPr>
        <p:spPr>
          <a:xfrm>
            <a:off x="4983480" y="28803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Page « Commandes », ouvrez la commande, puis créez l'affiche.</a:t>
            </a:r>
            <a:endParaRPr lang="en-US" sz="1500" dirty="0"/>
          </a:p>
        </p:txBody>
      </p:sp>
      <p:sp>
        <p:nvSpPr>
          <p:cNvPr id="14" name="note-carte-55"/>
          <p:cNvSpPr txBox="1"/>
          <p:nvPr/>
        </p:nvSpPr>
        <p:spPr>
          <a:xfrm>
            <a:off x="4983480" y="35661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Les informations du client sont reprises dans la fiche.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Remplir la fiche</a:t>
            </a:r>
            <a:endParaRPr lang="en-US" sz="3000" dirty="0"/>
          </a:p>
        </p:txBody>
      </p:sp>
      <p:sp>
        <p:nvSpPr>
          <p:cNvPr id="3" name="cercle-56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-5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274320" cy="274320"/>
          </a:xfrm>
          <a:prstGeom prst="rect">
            <a:avLst/>
          </a:prstGeom>
        </p:spPr>
      </p:pic>
      <p:sp>
        <p:nvSpPr>
          <p:cNvPr id="5" name="colonne-58"/>
          <p:cNvSpPr txBox="1"/>
          <p:nvPr/>
        </p:nvSpPr>
        <p:spPr>
          <a:xfrm>
            <a:off x="1143000" y="1188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Commerçant</a:t>
            </a:r>
            <a:endParaRPr lang="en-US" sz="2200" dirty="0"/>
          </a:p>
        </p:txBody>
      </p:sp>
      <p:sp>
        <p:nvSpPr>
          <p:cNvPr id="6" name="liste-59"/>
          <p:cNvSpPr txBox="1"/>
          <p:nvPr/>
        </p:nvSpPr>
        <p:spPr>
          <a:xfrm>
            <a:off x="457200" y="192024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Nom du commerce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Numéro WhatsApp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Ville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Adresse ou info de contact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Logo (facultatif)</a:t>
            </a:r>
            <a:endParaRPr lang="en-US" sz="1500" dirty="0"/>
          </a:p>
        </p:txBody>
      </p:sp>
      <p:sp>
        <p:nvSpPr>
          <p:cNvPr id="7" name="cercle-60"/>
          <p:cNvSpPr/>
          <p:nvPr/>
        </p:nvSpPr>
        <p:spPr>
          <a:xfrm>
            <a:off x="4663440" y="118872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icone-6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25880"/>
            <a:ext cx="274320" cy="274320"/>
          </a:xfrm>
          <a:prstGeom prst="rect">
            <a:avLst/>
          </a:prstGeom>
        </p:spPr>
      </p:pic>
      <p:sp>
        <p:nvSpPr>
          <p:cNvPr id="9" name="colonne-62"/>
          <p:cNvSpPr txBox="1"/>
          <p:nvPr/>
        </p:nvSpPr>
        <p:spPr>
          <a:xfrm>
            <a:off x="5349240" y="1188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Produit</a:t>
            </a:r>
            <a:endParaRPr lang="en-US" sz="2200" dirty="0"/>
          </a:p>
        </p:txBody>
      </p:sp>
      <p:sp>
        <p:nvSpPr>
          <p:cNvPr id="10" name="liste-63"/>
          <p:cNvSpPr txBox="1"/>
          <p:nvPr/>
        </p:nvSpPr>
        <p:spPr>
          <a:xfrm>
            <a:off x="4663440" y="192024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Nom du produit en français et en arabe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Prix en MRU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Photos : la première est la principale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« Mettre en principale » pour changer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Description : notes internes et IA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3. Mettre en page</a:t>
            </a:r>
            <a:endParaRPr lang="en-US" sz="3000" dirty="0"/>
          </a:p>
        </p:txBody>
      </p:sp>
      <p:sp>
        <p:nvSpPr>
          <p:cNvPr id="3" name="h-modele"/>
          <p:cNvSpPr txBox="1"/>
          <p:nvPr/>
        </p:nvSpPr>
        <p:spPr>
          <a:xfrm>
            <a:off x="45720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Modèle</a:t>
            </a:r>
            <a:endParaRPr lang="en-US" sz="1800" dirty="0"/>
          </a:p>
        </p:txBody>
      </p:sp>
      <p:sp>
        <p:nvSpPr>
          <p:cNvPr id="4" name="cercle-64"/>
          <p:cNvSpPr/>
          <p:nvPr/>
        </p:nvSpPr>
        <p:spPr>
          <a:xfrm>
            <a:off x="457200" y="16916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e-6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070" y="1794510"/>
            <a:ext cx="205740" cy="205740"/>
          </a:xfrm>
          <a:prstGeom prst="rect">
            <a:avLst/>
          </a:prstGeom>
        </p:spPr>
      </p:pic>
      <p:sp>
        <p:nvSpPr>
          <p:cNvPr id="6" name="modele-66"/>
          <p:cNvSpPr txBox="1"/>
          <p:nvPr/>
        </p:nvSpPr>
        <p:spPr>
          <a:xfrm>
            <a:off x="1005840" y="1691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Voitures</a:t>
            </a:r>
            <a:endParaRPr lang="en-US" sz="1500" dirty="0"/>
          </a:p>
        </p:txBody>
      </p:sp>
      <p:sp>
        <p:nvSpPr>
          <p:cNvPr id="7" name="cercle-67"/>
          <p:cNvSpPr/>
          <p:nvPr/>
        </p:nvSpPr>
        <p:spPr>
          <a:xfrm>
            <a:off x="457200" y="22402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e-6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" y="2343150"/>
            <a:ext cx="205740" cy="205740"/>
          </a:xfrm>
          <a:prstGeom prst="rect">
            <a:avLst/>
          </a:prstGeom>
        </p:spPr>
      </p:pic>
      <p:sp>
        <p:nvSpPr>
          <p:cNvPr id="9" name="modele-69"/>
          <p:cNvSpPr txBox="1"/>
          <p:nvPr/>
        </p:nvSpPr>
        <p:spPr>
          <a:xfrm>
            <a:off x="1005840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Immobilier</a:t>
            </a:r>
            <a:endParaRPr lang="en-US" sz="1500" dirty="0"/>
          </a:p>
        </p:txBody>
      </p:sp>
      <p:sp>
        <p:nvSpPr>
          <p:cNvPr id="10" name="cercle-70"/>
          <p:cNvSpPr/>
          <p:nvPr/>
        </p:nvSpPr>
        <p:spPr>
          <a:xfrm>
            <a:off x="457200" y="2788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e-7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" y="2891790"/>
            <a:ext cx="205740" cy="205740"/>
          </a:xfrm>
          <a:prstGeom prst="rect">
            <a:avLst/>
          </a:prstGeom>
        </p:spPr>
      </p:pic>
      <p:sp>
        <p:nvSpPr>
          <p:cNvPr id="12" name="modele-72"/>
          <p:cNvSpPr txBox="1"/>
          <p:nvPr/>
        </p:nvSpPr>
        <p:spPr>
          <a:xfrm>
            <a:off x="1005840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Alimentation</a:t>
            </a:r>
            <a:endParaRPr lang="en-US" sz="1500" dirty="0"/>
          </a:p>
        </p:txBody>
      </p:sp>
      <p:sp>
        <p:nvSpPr>
          <p:cNvPr id="13" name="cercle-73"/>
          <p:cNvSpPr/>
          <p:nvPr/>
        </p:nvSpPr>
        <p:spPr>
          <a:xfrm>
            <a:off x="457200" y="33375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e-7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70" y="3440430"/>
            <a:ext cx="205740" cy="205740"/>
          </a:xfrm>
          <a:prstGeom prst="rect">
            <a:avLst/>
          </a:prstGeom>
        </p:spPr>
      </p:pic>
      <p:sp>
        <p:nvSpPr>
          <p:cNvPr id="15" name="modele-75"/>
          <p:cNvSpPr txBox="1"/>
          <p:nvPr/>
        </p:nvSpPr>
        <p:spPr>
          <a:xfrm>
            <a:off x="1005840" y="3337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Téléphones</a:t>
            </a:r>
            <a:endParaRPr lang="en-US" sz="1500" dirty="0"/>
          </a:p>
        </p:txBody>
      </p:sp>
      <p:sp>
        <p:nvSpPr>
          <p:cNvPr id="16" name="cercle-76"/>
          <p:cNvSpPr/>
          <p:nvPr/>
        </p:nvSpPr>
        <p:spPr>
          <a:xfrm>
            <a:off x="457200" y="3886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e-7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70" y="3989070"/>
            <a:ext cx="205740" cy="205740"/>
          </a:xfrm>
          <a:prstGeom prst="rect">
            <a:avLst/>
          </a:prstGeom>
        </p:spPr>
      </p:pic>
      <p:sp>
        <p:nvSpPr>
          <p:cNvPr id="18" name="modele-78"/>
          <p:cNvSpPr txBox="1"/>
          <p:nvPr/>
        </p:nvSpPr>
        <p:spPr>
          <a:xfrm>
            <a:off x="1005840" y="3886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Commerce</a:t>
            </a:r>
            <a:endParaRPr lang="en-US" sz="1500" dirty="0"/>
          </a:p>
        </p:txBody>
      </p:sp>
      <p:sp>
        <p:nvSpPr>
          <p:cNvPr id="19" name="h-format"/>
          <p:cNvSpPr txBox="1"/>
          <p:nvPr/>
        </p:nvSpPr>
        <p:spPr>
          <a:xfrm>
            <a:off x="356616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Format</a:t>
            </a:r>
            <a:endParaRPr lang="en-US" sz="1800" dirty="0"/>
          </a:p>
        </p:txBody>
      </p:sp>
      <p:sp>
        <p:nvSpPr>
          <p:cNvPr id="20" name="carte-79"/>
          <p:cNvSpPr/>
          <p:nvPr/>
        </p:nvSpPr>
        <p:spPr>
          <a:xfrm>
            <a:off x="3566160" y="1783080"/>
            <a:ext cx="1463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carre"/>
          <p:cNvSpPr txBox="1"/>
          <p:nvPr/>
        </p:nvSpPr>
        <p:spPr>
          <a:xfrm>
            <a:off x="3566160" y="17830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1:1</a:t>
            </a:r>
            <a:endParaRPr lang="en-US" sz="2200" dirty="0"/>
          </a:p>
        </p:txBody>
      </p:sp>
      <p:sp>
        <p:nvSpPr>
          <p:cNvPr id="22" name="carte-80"/>
          <p:cNvSpPr/>
          <p:nvPr/>
        </p:nvSpPr>
        <p:spPr>
          <a:xfrm>
            <a:off x="5257800" y="1783080"/>
            <a:ext cx="914400" cy="1627632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tory"/>
          <p:cNvSpPr txBox="1"/>
          <p:nvPr/>
        </p:nvSpPr>
        <p:spPr>
          <a:xfrm>
            <a:off x="5257800" y="1783080"/>
            <a:ext cx="9144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9:16</a:t>
            </a:r>
            <a:endParaRPr lang="en-US" sz="2000" dirty="0"/>
          </a:p>
        </p:txBody>
      </p:sp>
      <p:sp>
        <p:nvSpPr>
          <p:cNvPr id="24" name="f1"/>
          <p:cNvSpPr txBox="1"/>
          <p:nvPr/>
        </p:nvSpPr>
        <p:spPr>
          <a:xfrm>
            <a:off x="3566160" y="3520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Publication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1080 × 1080</a:t>
            </a:r>
            <a:endParaRPr lang="en-US" sz="1300" dirty="0"/>
          </a:p>
        </p:txBody>
      </p:sp>
      <p:sp>
        <p:nvSpPr>
          <p:cNvPr id="25" name="f2"/>
          <p:cNvSpPr txBox="1"/>
          <p:nvPr/>
        </p:nvSpPr>
        <p:spPr>
          <a:xfrm>
            <a:off x="5257800" y="35204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1080 × 1920</a:t>
            </a:r>
            <a:endParaRPr lang="en-US" sz="1300" dirty="0"/>
          </a:p>
        </p:txBody>
      </p:sp>
      <p:sp>
        <p:nvSpPr>
          <p:cNvPr id="26" name="h-langue"/>
          <p:cNvSpPr txBox="1"/>
          <p:nvPr/>
        </p:nvSpPr>
        <p:spPr>
          <a:xfrm>
            <a:off x="667512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Langue</a:t>
            </a:r>
            <a:endParaRPr lang="en-US" sz="1800" dirty="0"/>
          </a:p>
        </p:txBody>
      </p:sp>
      <p:sp>
        <p:nvSpPr>
          <p:cNvPr id="27" name="cercle-81"/>
          <p:cNvSpPr/>
          <p:nvPr/>
        </p:nvSpPr>
        <p:spPr>
          <a:xfrm>
            <a:off x="6675120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cone-8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1828800"/>
            <a:ext cx="274320" cy="274320"/>
          </a:xfrm>
          <a:prstGeom prst="rect">
            <a:avLst/>
          </a:prstGeom>
        </p:spPr>
      </p:pic>
      <p:sp>
        <p:nvSpPr>
          <p:cNvPr id="29" name="langues"/>
          <p:cNvSpPr txBox="1"/>
          <p:nvPr/>
        </p:nvSpPr>
        <p:spPr>
          <a:xfrm>
            <a:off x="6675120" y="237744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Français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Arabe (de droite à gauche)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Les deux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Les textes de l'affiche</a:t>
            </a:r>
            <a:endParaRPr lang="en-US" sz="3000" dirty="0"/>
          </a:p>
        </p:txBody>
      </p:sp>
      <p:sp>
        <p:nvSpPr>
          <p:cNvPr id="3" name="carte-83"/>
          <p:cNvSpPr/>
          <p:nvPr/>
        </p:nvSpPr>
        <p:spPr>
          <a:xfrm>
            <a:off x="457200" y="1188720"/>
            <a:ext cx="24688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hamp-84"/>
          <p:cNvSpPr txBox="1"/>
          <p:nvPr/>
        </p:nvSpPr>
        <p:spPr>
          <a:xfrm>
            <a:off x="685800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Titre</a:t>
            </a:r>
            <a:endParaRPr lang="en-US" sz="1700" dirty="0"/>
          </a:p>
        </p:txBody>
      </p:sp>
      <p:sp>
        <p:nvSpPr>
          <p:cNvPr id="5" name="aide-85"/>
          <p:cNvSpPr txBox="1"/>
          <p:nvPr/>
        </p:nvSpPr>
        <p:spPr>
          <a:xfrm>
            <a:off x="685800" y="17830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 message principal, en grand</a:t>
            </a:r>
            <a:endParaRPr lang="en-US" sz="1300" dirty="0"/>
          </a:p>
        </p:txBody>
      </p:sp>
      <p:sp>
        <p:nvSpPr>
          <p:cNvPr id="6" name="carte-86"/>
          <p:cNvSpPr/>
          <p:nvPr/>
        </p:nvSpPr>
        <p:spPr>
          <a:xfrm>
            <a:off x="3108960" y="1188720"/>
            <a:ext cx="24688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hamp-87"/>
          <p:cNvSpPr txBox="1"/>
          <p:nvPr/>
        </p:nvSpPr>
        <p:spPr>
          <a:xfrm>
            <a:off x="3337560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Accroche</a:t>
            </a:r>
            <a:endParaRPr lang="en-US" sz="1700" dirty="0"/>
          </a:p>
        </p:txBody>
      </p:sp>
      <p:sp>
        <p:nvSpPr>
          <p:cNvPr id="8" name="aide-88"/>
          <p:cNvSpPr txBox="1"/>
          <p:nvPr/>
        </p:nvSpPr>
        <p:spPr>
          <a:xfrm>
            <a:off x="3337560" y="17830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Une phrase qui donne envie</a:t>
            </a:r>
            <a:endParaRPr lang="en-US" sz="1300" dirty="0"/>
          </a:p>
        </p:txBody>
      </p:sp>
      <p:sp>
        <p:nvSpPr>
          <p:cNvPr id="9" name="carte-89"/>
          <p:cNvSpPr/>
          <p:nvPr/>
        </p:nvSpPr>
        <p:spPr>
          <a:xfrm>
            <a:off x="457200" y="2606040"/>
            <a:ext cx="24688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hamp-90"/>
          <p:cNvSpPr txBox="1"/>
          <p:nvPr/>
        </p:nvSpPr>
        <p:spPr>
          <a:xfrm>
            <a:off x="68580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Appel à l'action</a:t>
            </a:r>
            <a:endParaRPr lang="en-US" sz="1700" dirty="0"/>
          </a:p>
        </p:txBody>
      </p:sp>
      <p:sp>
        <p:nvSpPr>
          <p:cNvPr id="11" name="aide-91"/>
          <p:cNvSpPr txBox="1"/>
          <p:nvPr/>
        </p:nvSpPr>
        <p:spPr>
          <a:xfrm>
            <a:off x="685800" y="32004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Ex. : « Commandez sur WhatsApp »</a:t>
            </a:r>
            <a:endParaRPr lang="en-US" sz="1300" dirty="0"/>
          </a:p>
        </p:txBody>
      </p:sp>
      <p:sp>
        <p:nvSpPr>
          <p:cNvPr id="12" name="carte-92"/>
          <p:cNvSpPr/>
          <p:nvPr/>
        </p:nvSpPr>
        <p:spPr>
          <a:xfrm>
            <a:off x="3108960" y="2606040"/>
            <a:ext cx="24688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hamp-93"/>
          <p:cNvSpPr txBox="1"/>
          <p:nvPr/>
        </p:nvSpPr>
        <p:spPr>
          <a:xfrm>
            <a:off x="333756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Étiquette</a:t>
            </a:r>
            <a:endParaRPr lang="en-US" sz="1700" dirty="0"/>
          </a:p>
        </p:txBody>
      </p:sp>
      <p:sp>
        <p:nvSpPr>
          <p:cNvPr id="14" name="aide-94"/>
          <p:cNvSpPr txBox="1"/>
          <p:nvPr/>
        </p:nvSpPr>
        <p:spPr>
          <a:xfrm>
            <a:off x="3337560" y="32004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Ex. : « Promo », « Nouveau »</a:t>
            </a:r>
            <a:endParaRPr lang="en-US" sz="1300" dirty="0"/>
          </a:p>
        </p:txBody>
      </p:sp>
      <p:sp>
        <p:nvSpPr>
          <p:cNvPr id="15" name="cercle-95"/>
          <p:cNvSpPr/>
          <p:nvPr/>
        </p:nvSpPr>
        <p:spPr>
          <a:xfrm>
            <a:off x="5943600" y="11887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cone-9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325880"/>
            <a:ext cx="274320" cy="274320"/>
          </a:xfrm>
          <a:prstGeom prst="rect">
            <a:avLst/>
          </a:prstGeom>
        </p:spPr>
      </p:pic>
      <p:sp>
        <p:nvSpPr>
          <p:cNvPr id="17" name="autre"/>
          <p:cNvSpPr txBox="1"/>
          <p:nvPr/>
        </p:nvSpPr>
        <p:spPr>
          <a:xfrm>
            <a:off x="6629400" y="11430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Autre proposition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Propose de nouveaux textes d'exemple du secteur, sans IA.</a:t>
            </a:r>
            <a:endParaRPr lang="en-US" sz="1400" dirty="0"/>
          </a:p>
        </p:txBody>
      </p:sp>
      <p:sp>
        <p:nvSpPr>
          <p:cNvPr id="18" name="cercle-97"/>
          <p:cNvSpPr/>
          <p:nvPr/>
        </p:nvSpPr>
        <p:spPr>
          <a:xfrm>
            <a:off x="5943600" y="260604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9" name="icone-9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743200"/>
            <a:ext cx="274320" cy="274320"/>
          </a:xfrm>
          <a:prstGeom prst="rect">
            <a:avLst/>
          </a:prstGeom>
        </p:spPr>
      </p:pic>
      <p:sp>
        <p:nvSpPr>
          <p:cNvPr id="20" name="ia"/>
          <p:cNvSpPr txBox="1"/>
          <p:nvPr/>
        </p:nvSpPr>
        <p:spPr>
          <a:xfrm>
            <a:off x="6629400" y="25603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Rédiger avec l'IA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Pas encore active : il faut ajouter la clé OPENAI_API_KEY.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4. Enregistrer et exporter l'image</a:t>
            </a:r>
            <a:endParaRPr lang="en-US" sz="3000" dirty="0"/>
          </a:p>
        </p:txBody>
      </p:sp>
      <p:sp>
        <p:nvSpPr>
          <p:cNvPr id="3" name="cercle-99"/>
          <p:cNvSpPr/>
          <p:nvPr/>
        </p:nvSpPr>
        <p:spPr>
          <a:xfrm>
            <a:off x="457200" y="12344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-10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1405890"/>
            <a:ext cx="342900" cy="342900"/>
          </a:xfrm>
          <a:prstGeom prst="rect">
            <a:avLst/>
          </a:prstGeom>
        </p:spPr>
      </p:pic>
      <p:sp>
        <p:nvSpPr>
          <p:cNvPr id="5" name="action-101"/>
          <p:cNvSpPr txBox="1"/>
          <p:nvPr/>
        </p:nvSpPr>
        <p:spPr>
          <a:xfrm>
            <a:off x="1371600" y="121615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Enregistrer</a:t>
            </a:r>
            <a:endParaRPr lang="en-US" sz="1800" dirty="0"/>
          </a:p>
        </p:txBody>
      </p:sp>
      <p:sp>
        <p:nvSpPr>
          <p:cNvPr id="6" name="explication-102"/>
          <p:cNvSpPr txBox="1"/>
          <p:nvPr/>
        </p:nvSpPr>
        <p:spPr>
          <a:xfrm>
            <a:off x="1371600" y="158191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Sauvegarde la fiche. Le message « Modifications non enregistrées » vous rappelle de le faire.</a:t>
            </a:r>
            <a:endParaRPr lang="en-US" sz="1400" dirty="0"/>
          </a:p>
        </p:txBody>
      </p:sp>
      <p:sp>
        <p:nvSpPr>
          <p:cNvPr id="7" name="cercle-103"/>
          <p:cNvSpPr/>
          <p:nvPr/>
        </p:nvSpPr>
        <p:spPr>
          <a:xfrm>
            <a:off x="457200" y="23317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e-10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503170"/>
            <a:ext cx="342900" cy="342900"/>
          </a:xfrm>
          <a:prstGeom prst="rect">
            <a:avLst/>
          </a:prstGeom>
        </p:spPr>
      </p:pic>
      <p:sp>
        <p:nvSpPr>
          <p:cNvPr id="9" name="action-105"/>
          <p:cNvSpPr txBox="1"/>
          <p:nvPr/>
        </p:nvSpPr>
        <p:spPr>
          <a:xfrm>
            <a:off x="1371600" y="231343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Télécharger en PNG</a:t>
            </a:r>
            <a:endParaRPr lang="en-US" sz="1800" dirty="0"/>
          </a:p>
        </p:txBody>
      </p:sp>
      <p:sp>
        <p:nvSpPr>
          <p:cNvPr id="10" name="explication-106"/>
          <p:cNvSpPr txBox="1"/>
          <p:nvPr/>
        </p:nvSpPr>
        <p:spPr>
          <a:xfrm>
            <a:off x="1371600" y="267919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Image haute qualité sur votre ordinateur, à envoyer au client.</a:t>
            </a:r>
            <a:endParaRPr lang="en-US" sz="1400" dirty="0"/>
          </a:p>
        </p:txBody>
      </p:sp>
      <p:sp>
        <p:nvSpPr>
          <p:cNvPr id="11" name="cercle-107"/>
          <p:cNvSpPr/>
          <p:nvPr/>
        </p:nvSpPr>
        <p:spPr>
          <a:xfrm>
            <a:off x="457200" y="34290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e-10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600450"/>
            <a:ext cx="342900" cy="342900"/>
          </a:xfrm>
          <a:prstGeom prst="rect">
            <a:avLst/>
          </a:prstGeom>
        </p:spPr>
      </p:pic>
      <p:sp>
        <p:nvSpPr>
          <p:cNvPr id="13" name="action-109"/>
          <p:cNvSpPr txBox="1"/>
          <p:nvPr/>
        </p:nvSpPr>
        <p:spPr>
          <a:xfrm>
            <a:off x="1371600" y="341071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Enregistrer l'image</a:t>
            </a:r>
            <a:endParaRPr lang="en-US" sz="1800" dirty="0"/>
          </a:p>
        </p:txBody>
      </p:sp>
      <p:sp>
        <p:nvSpPr>
          <p:cNvPr id="14" name="explication-110"/>
          <p:cNvSpPr txBox="1"/>
          <p:nvPr/>
        </p:nvSpPr>
        <p:spPr>
          <a:xfrm>
            <a:off x="1371600" y="377647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Garde l'image finale dans la fiche. Si l'affiche change, enregistrez-la à nouveau.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La vidéo publicitaire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Créée à partir de la fiche, directement dans le navigateur, au format MP4</a:t>
            </a:r>
            <a:endParaRPr lang="en-US" sz="1800" dirty="0"/>
          </a:p>
        </p:txBody>
      </p:sp>
      <p:sp>
        <p:nvSpPr>
          <p:cNvPr id="4" name="cercle-111"/>
          <p:cNvSpPr/>
          <p:nvPr/>
        </p:nvSpPr>
        <p:spPr>
          <a:xfrm>
            <a:off x="548640" y="82296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one-11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028700"/>
            <a:ext cx="411480" cy="411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5. Préparer la vidéo</a:t>
            </a:r>
            <a:endParaRPr lang="en-US" sz="3000" dirty="0"/>
          </a:p>
        </p:txBody>
      </p:sp>
      <p:sp>
        <p:nvSpPr>
          <p:cNvPr id="3" name="puce-113"/>
          <p:cNvSpPr/>
          <p:nvPr/>
        </p:nvSpPr>
        <p:spPr>
          <a:xfrm>
            <a:off x="457200" y="12344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114"/>
          <p:cNvSpPr txBox="1"/>
          <p:nvPr/>
        </p:nvSpPr>
        <p:spPr>
          <a:xfrm>
            <a:off x="4572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etape-115"/>
          <p:cNvSpPr txBox="1"/>
          <p:nvPr/>
        </p:nvSpPr>
        <p:spPr>
          <a:xfrm>
            <a:off x="1005840" y="117957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Ouvrez l'affiche, puis l'onglet « Vidéo »</a:t>
            </a:r>
            <a:endParaRPr lang="en-US" sz="1500" dirty="0"/>
          </a:p>
        </p:txBody>
      </p:sp>
      <p:sp>
        <p:nvSpPr>
          <p:cNvPr id="6" name="puce-116"/>
          <p:cNvSpPr/>
          <p:nvPr/>
        </p:nvSpPr>
        <p:spPr>
          <a:xfrm>
            <a:off x="457200" y="194767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numero-117"/>
          <p:cNvSpPr txBox="1"/>
          <p:nvPr/>
        </p:nvSpPr>
        <p:spPr>
          <a:xfrm>
            <a:off x="45720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etape-118"/>
          <p:cNvSpPr txBox="1"/>
          <p:nvPr/>
        </p:nvSpPr>
        <p:spPr>
          <a:xfrm>
            <a:off x="1005840" y="18928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Regardez l'aperçu qui tourne en boucle</a:t>
            </a:r>
            <a:endParaRPr lang="en-US" sz="1500" dirty="0"/>
          </a:p>
        </p:txBody>
      </p:sp>
      <p:sp>
        <p:nvSpPr>
          <p:cNvPr id="9" name="puce-119"/>
          <p:cNvSpPr/>
          <p:nvPr/>
        </p:nvSpPr>
        <p:spPr>
          <a:xfrm>
            <a:off x="457200" y="266090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numero-120"/>
          <p:cNvSpPr txBox="1"/>
          <p:nvPr/>
        </p:nvSpPr>
        <p:spPr>
          <a:xfrm>
            <a:off x="45720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etape-121"/>
          <p:cNvSpPr txBox="1"/>
          <p:nvPr/>
        </p:nvSpPr>
        <p:spPr>
          <a:xfrm>
            <a:off x="1005840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Choisissez la durée : 10 s ou 15 s</a:t>
            </a:r>
            <a:endParaRPr lang="en-US" sz="1500" dirty="0"/>
          </a:p>
        </p:txBody>
      </p:sp>
      <p:sp>
        <p:nvSpPr>
          <p:cNvPr id="12" name="puce-122"/>
          <p:cNvSpPr/>
          <p:nvPr/>
        </p:nvSpPr>
        <p:spPr>
          <a:xfrm>
            <a:off x="457200" y="337413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numero-123"/>
          <p:cNvSpPr txBox="1"/>
          <p:nvPr/>
        </p:nvSpPr>
        <p:spPr>
          <a:xfrm>
            <a:off x="45720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etape-124"/>
          <p:cNvSpPr txBox="1"/>
          <p:nvPr/>
        </p:nvSpPr>
        <p:spPr>
          <a:xfrm>
            <a:off x="1005840" y="33192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Vérifiez photos, prix et textes avant de générer</a:t>
            </a:r>
            <a:endParaRPr lang="en-US" sz="1500" dirty="0"/>
          </a:p>
        </p:txBody>
      </p:sp>
      <p:graphicFrame>
        <p:nvGraphicFramePr>
          <p:cNvPr id="15" name="graphique-scenes" descr=""/>
          <p:cNvGraphicFramePr/>
          <p:nvPr/>
        </p:nvGraphicFramePr>
        <p:xfrm>
          <a:off x="4480560" y="114300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Générer la vidéo MP4</a:t>
            </a:r>
            <a:endParaRPr lang="en-US" sz="3000" dirty="0"/>
          </a:p>
        </p:txBody>
      </p:sp>
      <p:sp>
        <p:nvSpPr>
          <p:cNvPr id="3" name="cercle-125"/>
          <p:cNvSpPr/>
          <p:nvPr/>
        </p:nvSpPr>
        <p:spPr>
          <a:xfrm>
            <a:off x="1120140" y="12344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-12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" y="1417320"/>
            <a:ext cx="365760" cy="365760"/>
          </a:xfrm>
          <a:prstGeom prst="rect">
            <a:avLst/>
          </a:prstGeom>
        </p:spPr>
      </p:pic>
      <p:sp>
        <p:nvSpPr>
          <p:cNvPr id="5" name="gen-127"/>
          <p:cNvSpPr txBox="1"/>
          <p:nvPr/>
        </p:nvSpPr>
        <p:spPr>
          <a:xfrm>
            <a:off x="548640" y="21031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Créer la vidéo MP4</a:t>
            </a:r>
            <a:endParaRPr lang="en-US" sz="1500" dirty="0"/>
          </a:p>
        </p:txBody>
      </p:sp>
      <p:sp>
        <p:nvSpPr>
          <p:cNvPr id="6" name="fleche-128"/>
          <p:cNvSpPr/>
          <p:nvPr/>
        </p:nvSpPr>
        <p:spPr>
          <a:xfrm>
            <a:off x="1943100" y="1600200"/>
            <a:ext cx="11430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" name="cercle-129"/>
          <p:cNvSpPr/>
          <p:nvPr/>
        </p:nvSpPr>
        <p:spPr>
          <a:xfrm>
            <a:off x="3177540" y="12344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13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20" y="1417320"/>
            <a:ext cx="365760" cy="365760"/>
          </a:xfrm>
          <a:prstGeom prst="rect">
            <a:avLst/>
          </a:prstGeom>
        </p:spPr>
      </p:pic>
      <p:sp>
        <p:nvSpPr>
          <p:cNvPr id="9" name="gen-131"/>
          <p:cNvSpPr txBox="1"/>
          <p:nvPr/>
        </p:nvSpPr>
        <p:spPr>
          <a:xfrm>
            <a:off x="2606040" y="21031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Attendre la barre de progression</a:t>
            </a:r>
            <a:endParaRPr lang="en-US" sz="1500" dirty="0"/>
          </a:p>
        </p:txBody>
      </p:sp>
      <p:sp>
        <p:nvSpPr>
          <p:cNvPr id="10" name="fleche-132"/>
          <p:cNvSpPr/>
          <p:nvPr/>
        </p:nvSpPr>
        <p:spPr>
          <a:xfrm>
            <a:off x="4000500" y="1600200"/>
            <a:ext cx="11430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cercle-133"/>
          <p:cNvSpPr/>
          <p:nvPr/>
        </p:nvSpPr>
        <p:spPr>
          <a:xfrm>
            <a:off x="5234940" y="12344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one-13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1417320"/>
            <a:ext cx="365760" cy="365760"/>
          </a:xfrm>
          <a:prstGeom prst="rect">
            <a:avLst/>
          </a:prstGeom>
        </p:spPr>
      </p:pic>
      <p:sp>
        <p:nvSpPr>
          <p:cNvPr id="13" name="gen-135"/>
          <p:cNvSpPr txBox="1"/>
          <p:nvPr/>
        </p:nvSpPr>
        <p:spPr>
          <a:xfrm>
            <a:off x="4663440" y="21031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Lire le résultat</a:t>
            </a:r>
            <a:endParaRPr lang="en-US" sz="1500" dirty="0"/>
          </a:p>
        </p:txBody>
      </p:sp>
      <p:sp>
        <p:nvSpPr>
          <p:cNvPr id="14" name="fleche-136"/>
          <p:cNvSpPr/>
          <p:nvPr/>
        </p:nvSpPr>
        <p:spPr>
          <a:xfrm>
            <a:off x="6057900" y="1600200"/>
            <a:ext cx="11430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cercle-137"/>
          <p:cNvSpPr/>
          <p:nvPr/>
        </p:nvSpPr>
        <p:spPr>
          <a:xfrm>
            <a:off x="7292340" y="12344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cone-13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220" y="1417320"/>
            <a:ext cx="365760" cy="365760"/>
          </a:xfrm>
          <a:prstGeom prst="rect">
            <a:avLst/>
          </a:prstGeom>
        </p:spPr>
      </p:pic>
      <p:sp>
        <p:nvSpPr>
          <p:cNvPr id="17" name="gen-139"/>
          <p:cNvSpPr txBox="1"/>
          <p:nvPr/>
        </p:nvSpPr>
        <p:spPr>
          <a:xfrm>
            <a:off x="6720840" y="21031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Télécharger ou enregistrer</a:t>
            </a:r>
            <a:endParaRPr lang="en-US" sz="1500" dirty="0"/>
          </a:p>
        </p:txBody>
      </p:sp>
      <p:sp>
        <p:nvSpPr>
          <p:cNvPr id="18" name="carte-140"/>
          <p:cNvSpPr/>
          <p:nvPr/>
        </p:nvSpPr>
        <p:spPr>
          <a:xfrm>
            <a:off x="457200" y="2971800"/>
            <a:ext cx="822960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onseils-video"/>
          <p:cNvSpPr txBox="1"/>
          <p:nvPr/>
        </p:nvSpPr>
        <p:spPr>
          <a:xfrm>
            <a:off x="731520" y="31089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Utilisez Chrome ou Edge récent : sinon la vidéo sort en WebM au lieu de MP4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Gardez l'onglet ouvert pendant la création ; « Annuler » l'arrête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« Enregistrer la vidéo » la garde dans la fiche ; si la fiche change, recréez-la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6. Suivre la publication</a:t>
            </a:r>
            <a:endParaRPr lang="en-US" sz="3000" dirty="0"/>
          </a:p>
        </p:txBody>
      </p:sp>
      <p:sp>
        <p:nvSpPr>
          <p:cNvPr id="3" name="statut-141"/>
          <p:cNvSpPr/>
          <p:nvPr/>
        </p:nvSpPr>
        <p:spPr>
          <a:xfrm>
            <a:off x="457200" y="1371600"/>
            <a:ext cx="1828800" cy="7315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statut-txt-142"/>
          <p:cNvSpPr txBox="1"/>
          <p:nvPr/>
        </p:nvSpPr>
        <p:spPr>
          <a:xfrm>
            <a:off x="45720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Brouillon</a:t>
            </a:r>
            <a:endParaRPr lang="en-US" sz="1500" dirty="0"/>
          </a:p>
        </p:txBody>
      </p:sp>
      <p:sp>
        <p:nvSpPr>
          <p:cNvPr id="5" name="fleche-143"/>
          <p:cNvSpPr/>
          <p:nvPr/>
        </p:nvSpPr>
        <p:spPr>
          <a:xfrm>
            <a:off x="2322576" y="1737360"/>
            <a:ext cx="228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statut-144"/>
          <p:cNvSpPr/>
          <p:nvPr/>
        </p:nvSpPr>
        <p:spPr>
          <a:xfrm>
            <a:off x="2587752" y="1371600"/>
            <a:ext cx="1828800" cy="7315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tatut-txt-145"/>
          <p:cNvSpPr txBox="1"/>
          <p:nvPr/>
        </p:nvSpPr>
        <p:spPr>
          <a:xfrm>
            <a:off x="2587752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Envoyée au client</a:t>
            </a:r>
            <a:endParaRPr lang="en-US" sz="1500" dirty="0"/>
          </a:p>
        </p:txBody>
      </p:sp>
      <p:sp>
        <p:nvSpPr>
          <p:cNvPr id="8" name="fleche-146"/>
          <p:cNvSpPr/>
          <p:nvPr/>
        </p:nvSpPr>
        <p:spPr>
          <a:xfrm>
            <a:off x="4453128" y="1737360"/>
            <a:ext cx="228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statut-147"/>
          <p:cNvSpPr/>
          <p:nvPr/>
        </p:nvSpPr>
        <p:spPr>
          <a:xfrm>
            <a:off x="4718304" y="1371600"/>
            <a:ext cx="1828800" cy="7315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statut-txt-148"/>
          <p:cNvSpPr txBox="1"/>
          <p:nvPr/>
        </p:nvSpPr>
        <p:spPr>
          <a:xfrm>
            <a:off x="4718304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Validée</a:t>
            </a:r>
            <a:endParaRPr lang="en-US" sz="1500" dirty="0"/>
          </a:p>
        </p:txBody>
      </p:sp>
      <p:sp>
        <p:nvSpPr>
          <p:cNvPr id="11" name="fleche-149"/>
          <p:cNvSpPr/>
          <p:nvPr/>
        </p:nvSpPr>
        <p:spPr>
          <a:xfrm>
            <a:off x="6583680" y="1737360"/>
            <a:ext cx="228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statut-150"/>
          <p:cNvSpPr/>
          <p:nvPr/>
        </p:nvSpPr>
        <p:spPr>
          <a:xfrm>
            <a:off x="6848856" y="1371600"/>
            <a:ext cx="1828800" cy="7315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statut-txt-151"/>
          <p:cNvSpPr txBox="1"/>
          <p:nvPr/>
        </p:nvSpPr>
        <p:spPr>
          <a:xfrm>
            <a:off x="6848856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Publiée</a:t>
            </a:r>
            <a:endParaRPr lang="en-US" sz="1500" dirty="0"/>
          </a:p>
        </p:txBody>
      </p:sp>
      <p:sp>
        <p:nvSpPr>
          <p:cNvPr id="14" name="cercle-152"/>
          <p:cNvSpPr/>
          <p:nvPr/>
        </p:nvSpPr>
        <p:spPr>
          <a:xfrm>
            <a:off x="457200" y="2514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e-15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628900"/>
            <a:ext cx="228600" cy="228600"/>
          </a:xfrm>
          <a:prstGeom prst="rect">
            <a:avLst/>
          </a:prstGeom>
        </p:spPr>
      </p:pic>
      <p:sp>
        <p:nvSpPr>
          <p:cNvPr id="16" name="astuce-154"/>
          <p:cNvSpPr txBox="1"/>
          <p:nvPr/>
        </p:nvSpPr>
        <p:spPr>
          <a:xfrm>
            <a:off x="1097280" y="2514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lien de la publication (Facebook, Instagram…) est obligatoire pour passer en « Publiée »</a:t>
            </a:r>
            <a:endParaRPr lang="en-US" sz="1400" dirty="0"/>
          </a:p>
        </p:txBody>
      </p:sp>
      <p:sp>
        <p:nvSpPr>
          <p:cNvPr id="17" name="cercle-155"/>
          <p:cNvSpPr/>
          <p:nvPr/>
        </p:nvSpPr>
        <p:spPr>
          <a:xfrm>
            <a:off x="45720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e-15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314700"/>
            <a:ext cx="228600" cy="228600"/>
          </a:xfrm>
          <a:prstGeom prst="rect">
            <a:avLst/>
          </a:prstGeom>
        </p:spPr>
      </p:pic>
      <p:sp>
        <p:nvSpPr>
          <p:cNvPr id="19" name="astuce-157"/>
          <p:cNvSpPr txBox="1"/>
          <p:nvPr/>
        </p:nvSpPr>
        <p:spPr>
          <a:xfrm>
            <a:off x="1097280" y="3200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 Repasser en brouillon » permet de corriger une affiche déjà envoyée</a:t>
            </a:r>
            <a:endParaRPr lang="en-US" sz="1400" dirty="0"/>
          </a:p>
        </p:txBody>
      </p:sp>
      <p:sp>
        <p:nvSpPr>
          <p:cNvPr id="20" name="cercle-158"/>
          <p:cNvSpPr/>
          <p:nvPr/>
        </p:nvSpPr>
        <p:spPr>
          <a:xfrm>
            <a:off x="45720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one-15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00500"/>
            <a:ext cx="228600" cy="228600"/>
          </a:xfrm>
          <a:prstGeom prst="rect">
            <a:avLst/>
          </a:prstGeom>
        </p:spPr>
      </p:pic>
      <p:sp>
        <p:nvSpPr>
          <p:cNvPr id="22" name="astuce-160"/>
          <p:cNvSpPr txBox="1"/>
          <p:nvPr/>
        </p:nvSpPr>
        <p:spPr>
          <a:xfrm>
            <a:off x="1097280" y="3886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Dans l'Atelier, filtrez par statut ou cherchez un commerçant ou un produit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Conseils et dépannage</a:t>
            </a:r>
            <a:endParaRPr lang="en-US" sz="3000" dirty="0"/>
          </a:p>
        </p:txBody>
      </p:sp>
      <p:sp>
        <p:nvSpPr>
          <p:cNvPr id="3" name="carte-161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ercle-162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e-16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543050"/>
            <a:ext cx="251460" cy="251460"/>
          </a:xfrm>
          <a:prstGeom prst="rect">
            <a:avLst/>
          </a:prstGeom>
        </p:spPr>
      </p:pic>
      <p:sp>
        <p:nvSpPr>
          <p:cNvPr id="6" name="pb-164"/>
          <p:cNvSpPr txBox="1"/>
          <p:nvPr/>
        </p:nvSpPr>
        <p:spPr>
          <a:xfrm>
            <a:off x="1325880" y="14173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Photos</a:t>
            </a:r>
            <a:endParaRPr lang="en-US" sz="1600" dirty="0"/>
          </a:p>
        </p:txBody>
      </p:sp>
      <p:sp>
        <p:nvSpPr>
          <p:cNvPr id="7" name="solution-165"/>
          <p:cNvSpPr txBox="1"/>
          <p:nvPr/>
        </p:nvSpPr>
        <p:spPr>
          <a:xfrm>
            <a:off x="685800" y="20116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Des photos nettes, bien éclairées, produit au centre : l'affiche et la vidéo seront meilleures.</a:t>
            </a:r>
            <a:endParaRPr lang="en-US" sz="1300" dirty="0"/>
          </a:p>
        </p:txBody>
      </p:sp>
      <p:sp>
        <p:nvSpPr>
          <p:cNvPr id="8" name="carte-166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ercle-167"/>
          <p:cNvSpPr/>
          <p:nvPr/>
        </p:nvSpPr>
        <p:spPr>
          <a:xfrm>
            <a:off x="4892040" y="14173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e-16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770" y="1543050"/>
            <a:ext cx="251460" cy="251460"/>
          </a:xfrm>
          <a:prstGeom prst="rect">
            <a:avLst/>
          </a:prstGeom>
        </p:spPr>
      </p:pic>
      <p:sp>
        <p:nvSpPr>
          <p:cNvPr id="11" name="pb-169"/>
          <p:cNvSpPr txBox="1"/>
          <p:nvPr/>
        </p:nvSpPr>
        <p:spPr>
          <a:xfrm>
            <a:off x="5532120" y="14173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Vidéo lente ou page qui plante</a:t>
            </a:r>
            <a:endParaRPr lang="en-US" sz="1600" dirty="0"/>
          </a:p>
        </p:txBody>
      </p:sp>
      <p:sp>
        <p:nvSpPr>
          <p:cNvPr id="12" name="solution-170"/>
          <p:cNvSpPr txBox="1"/>
          <p:nvPr/>
        </p:nvSpPr>
        <p:spPr>
          <a:xfrm>
            <a:off x="4892040" y="20116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Fermez les autres onglets et programmes : la vidéo est créée par votre ordinateur.</a:t>
            </a:r>
            <a:endParaRPr lang="en-US" sz="1300" dirty="0"/>
          </a:p>
        </p:txBody>
      </p:sp>
      <p:sp>
        <p:nvSpPr>
          <p:cNvPr id="13" name="carte-171"/>
          <p:cNvSpPr/>
          <p:nvPr/>
        </p:nvSpPr>
        <p:spPr>
          <a:xfrm>
            <a:off x="457200" y="288036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ercle-172"/>
          <p:cNvSpPr/>
          <p:nvPr/>
        </p:nvSpPr>
        <p:spPr>
          <a:xfrm>
            <a:off x="685800" y="31089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one-17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3234690"/>
            <a:ext cx="251460" cy="251460"/>
          </a:xfrm>
          <a:prstGeom prst="rect">
            <a:avLst/>
          </a:prstGeom>
        </p:spPr>
      </p:pic>
      <p:sp>
        <p:nvSpPr>
          <p:cNvPr id="16" name="pb-174"/>
          <p:cNvSpPr txBox="1"/>
          <p:nvPr/>
        </p:nvSpPr>
        <p:spPr>
          <a:xfrm>
            <a:off x="1325880" y="3108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Vidéo en WebM</a:t>
            </a:r>
            <a:endParaRPr lang="en-US" sz="1600" dirty="0"/>
          </a:p>
        </p:txBody>
      </p:sp>
      <p:sp>
        <p:nvSpPr>
          <p:cNvPr id="17" name="solution-175"/>
          <p:cNvSpPr txBox="1"/>
          <p:nvPr/>
        </p:nvSpPr>
        <p:spPr>
          <a:xfrm>
            <a:off x="685800" y="37033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Le navigateur ne sait pas faire de MP4 : recommencez dans Chrome ou Edge récent.</a:t>
            </a:r>
            <a:endParaRPr lang="en-US" sz="1300" dirty="0"/>
          </a:p>
        </p:txBody>
      </p:sp>
      <p:sp>
        <p:nvSpPr>
          <p:cNvPr id="18" name="carte-176"/>
          <p:cNvSpPr/>
          <p:nvPr/>
        </p:nvSpPr>
        <p:spPr>
          <a:xfrm>
            <a:off x="4663440" y="288036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ercle-177"/>
          <p:cNvSpPr/>
          <p:nvPr/>
        </p:nvSpPr>
        <p:spPr>
          <a:xfrm>
            <a:off x="4892040" y="3108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e-17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770" y="3234690"/>
            <a:ext cx="251460" cy="251460"/>
          </a:xfrm>
          <a:prstGeom prst="rect">
            <a:avLst/>
          </a:prstGeom>
        </p:spPr>
      </p:pic>
      <p:sp>
        <p:nvSpPr>
          <p:cNvPr id="21" name="pb-179"/>
          <p:cNvSpPr txBox="1"/>
          <p:nvPr/>
        </p:nvSpPr>
        <p:spPr>
          <a:xfrm>
            <a:off x="5532120" y="3108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« L'affiche a changé »</a:t>
            </a:r>
            <a:endParaRPr lang="en-US" sz="1600" dirty="0"/>
          </a:p>
        </p:txBody>
      </p:sp>
      <p:sp>
        <p:nvSpPr>
          <p:cNvPr id="22" name="solution-180"/>
          <p:cNvSpPr txBox="1"/>
          <p:nvPr/>
        </p:nvSpPr>
        <p:spPr>
          <a:xfrm>
            <a:off x="4892040" y="37033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L'image ou la vidéo enregistrée n'est plus à jour : enregistrez-la à nouveau.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À vous de jouer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Fiche → Mise en page → Image → Vidéo → Publication</a:t>
            </a:r>
            <a:endParaRPr lang="en-US" sz="1800" dirty="0"/>
          </a:p>
        </p:txBody>
      </p:sp>
      <p:sp>
        <p:nvSpPr>
          <p:cNvPr id="4" name="cercle-181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e-18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3874770"/>
            <a:ext cx="251460" cy="251460"/>
          </a:xfrm>
          <a:prstGeom prst="rect">
            <a:avLst/>
          </a:prstGeom>
        </p:spPr>
      </p:pic>
      <p:sp>
        <p:nvSpPr>
          <p:cNvPr id="6" name="url-fin"/>
          <p:cNvSpPr txBox="1"/>
          <p:nvPr/>
        </p:nvSpPr>
        <p:spPr>
          <a:xfrm>
            <a:off x="1188720" y="3749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i3lanak.vercel.app/atelier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3LANAK">
  <a:themeElements>
    <a:clrScheme name="I3LANAK">
      <a:dk1>
        <a:srgbClr val="1E1B4B"/>
      </a:dk1>
      <a:lt1>
        <a:srgbClr val="FFFFFF"/>
      </a:lt1>
      <a:dk2>
        <a:srgbClr val="475569"/>
      </a:dk2>
      <a:lt2>
        <a:srgbClr val="EEF2FF"/>
      </a:lt2>
      <a:accent1>
        <a:srgbClr val="4F46E5"/>
      </a:accent1>
      <a:accent2>
        <a:srgbClr val="E11D48"/>
      </a:accent2>
      <a:accent3>
        <a:srgbClr val="059669"/>
      </a:accent3>
      <a:accent4>
        <a:srgbClr val="D97706"/>
      </a:accent4>
      <a:accent5>
        <a:srgbClr val="0284C7"/>
      </a:accent5>
      <a:accent6>
        <a:srgbClr val="64748B"/>
      </a:accent6>
      <a:hlink>
        <a:srgbClr val="4F46E5"/>
      </a:hlink>
      <a:folHlink>
        <a:srgbClr val="6D28D9"/>
      </a:folHlink>
    </a:clrScheme>
    <a:fontScheme name="I3LANA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IT-RIM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 I3LANAK — Atelier de pub et vidéo</dc:title>
  <dc:subject>PptxGenJS Presentation</dc:subject>
  <dc:creator>IT-RIM</dc:creator>
  <cp:lastModifiedBy>IT-RIM</cp:lastModifiedBy>
  <cp:revision>1</cp:revision>
  <dcterms:created xsi:type="dcterms:W3CDTF">2026-10-19T23:58:56Z</dcterms:created>
  <dcterms:modified xsi:type="dcterms:W3CDTF">2026-10-19T23:58:56Z</dcterms:modified>
</cp:coreProperties>
</file>